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Pattern Detection in Energy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6E4F7"/>
                </a:solidFill>
              </a:rPr>
              <a:t>Smart Meter Analysis 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57575"/>
                </a:solidFill>
              </a:rPr>
              <a:t>Gonçalo Rosa   |   MSc Data Science   |   ISCTE   |  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57575"/>
                </a:solidFill>
              </a:rPr>
              <a:t>Supervisors: Prof. Ana Maria de Almeida   &amp;   Prof. Diana Mendes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663440"/>
            <a:ext cx="393192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</a:rPr>
              <a:t>Dataset: GoiEner — Spain 2014–2022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Research Questions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GoiEner cooperative — Basque Country &amp; Navarra, Spain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6858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Research Questions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691640"/>
            <a:ext cx="6492240" cy="0"/>
          </a:xfrm>
          <a:prstGeom prst="line">
            <a:avLst/>
          </a:prstGeom>
          <a:ln w="127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874519"/>
            <a:ext cx="685800" cy="54864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39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How are smart meter data readings structured?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39"/>
            <a:ext cx="6858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59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How do seasonality, trend and residual components behave?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60"/>
            <a:ext cx="685800" cy="5486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976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What consumption archetypes exist in the user population?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40680"/>
            <a:ext cx="685800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4864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Which anomaly detection algorithms perform best?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4480560" cy="5394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Dataset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0" y="1691640"/>
            <a:ext cx="4114800" cy="0"/>
          </a:xfrm>
          <a:prstGeom prst="line">
            <a:avLst/>
          </a:prstGeom>
          <a:ln w="127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895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7F17"/>
                </a:solidFill>
              </a:rPr>
              <a:t>19,709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users retained after quality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249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7F17"/>
                </a:solidFill>
              </a:rPr>
              <a:t>8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770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hourly data  (2014 – 2022)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52958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7F17"/>
                </a:solidFill>
              </a:rPr>
              <a:t>~15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57530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consumption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3342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7F17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3799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COVID periods (pre / in / post)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1389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7F17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184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municipalities analysed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7F17"/>
                </a:solidFill>
              </a:rPr>
              <a:t>25 K+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raw smart meters in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End-to-end flow from raw smart meter data to anomaly flags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" y="2331718"/>
            <a:ext cx="1088136" cy="11887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GoiEner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3352" y="2331718"/>
            <a:ext cx="1088136" cy="11887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Quality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7832" y="2331718"/>
            <a:ext cx="1088136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STL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82312" y="2331718"/>
            <a:ext cx="1088136" cy="118872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Clustering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2331718"/>
            <a:ext cx="1088136" cy="11887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Municipality</a:t>
            </a:r>
          </a:p>
          <a:p>
            <a:pPr algn="ctr"/>
            <a:r>
              <a:rPr sz="1100" b="0" dirty="0">
                <a:solidFill>
                  <a:srgbClr val="FFFFFF"/>
                </a:solidFill>
              </a:rPr>
              <a:t>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91272" y="2331718"/>
            <a:ext cx="1088136" cy="11887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Feature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45752" y="2331718"/>
            <a:ext cx="1088136" cy="11887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Forecasting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(N-BEATS v2)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0232" y="2331718"/>
            <a:ext cx="1088136" cy="118872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Anomaly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25,559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335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≤5% missing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19,709 kept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Seasonality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Trend · Residuals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8231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k=3 archetypes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10,015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79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Vitoria · Donostia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Pamplona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127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19 features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(calendar + lags)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575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MAPE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3.71–5.20%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00232" y="3657597"/>
            <a:ext cx="1088136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212121"/>
                </a:solidFill>
              </a:rPr>
              <a:t>5 detectors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≥3/5 vote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</a:rPr>
              <a:t>Chapter 4: Results</a:t>
            </a:r>
          </a:p>
        </p:txBody>
      </p:sp>
      <p:sp>
        <p:nvSpPr>
          <p:cNvPr id="72" name="Seta: Para a Direita 71">
            <a:extLst>
              <a:ext uri="{FF2B5EF4-FFF2-40B4-BE49-F238E27FC236}">
                <a16:creationId xmlns:a16="http://schemas.microsoft.com/office/drawing/2014/main" id="{39089232-0554-4824-B7B1-6FD6F1C7675C}"/>
              </a:ext>
            </a:extLst>
          </p:cNvPr>
          <p:cNvSpPr/>
          <p:nvPr/>
        </p:nvSpPr>
        <p:spPr>
          <a:xfrm>
            <a:off x="1321308" y="2839210"/>
            <a:ext cx="237744" cy="17373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4" name="Seta: Para a Direita 73">
            <a:extLst>
              <a:ext uri="{FF2B5EF4-FFF2-40B4-BE49-F238E27FC236}">
                <a16:creationId xmlns:a16="http://schemas.microsoft.com/office/drawing/2014/main" id="{8D450A96-8FFD-BFBA-3D42-BD2C23BF3BA0}"/>
              </a:ext>
            </a:extLst>
          </p:cNvPr>
          <p:cNvSpPr/>
          <p:nvPr/>
        </p:nvSpPr>
        <p:spPr>
          <a:xfrm>
            <a:off x="2857500" y="2839210"/>
            <a:ext cx="237744" cy="17373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6" name="Seta: Para a Direita 75">
            <a:extLst>
              <a:ext uri="{FF2B5EF4-FFF2-40B4-BE49-F238E27FC236}">
                <a16:creationId xmlns:a16="http://schemas.microsoft.com/office/drawing/2014/main" id="{6E9294EC-F13B-ACA2-7600-A8D8D3B67257}"/>
              </a:ext>
            </a:extLst>
          </p:cNvPr>
          <p:cNvSpPr/>
          <p:nvPr/>
        </p:nvSpPr>
        <p:spPr>
          <a:xfrm>
            <a:off x="4430268" y="2839210"/>
            <a:ext cx="237744" cy="17373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8" name="Seta: Para a Direita 77">
            <a:extLst>
              <a:ext uri="{FF2B5EF4-FFF2-40B4-BE49-F238E27FC236}">
                <a16:creationId xmlns:a16="http://schemas.microsoft.com/office/drawing/2014/main" id="{0BDEBAC8-138A-03AD-E420-97990DA81E23}"/>
              </a:ext>
            </a:extLst>
          </p:cNvPr>
          <p:cNvSpPr/>
          <p:nvPr/>
        </p:nvSpPr>
        <p:spPr>
          <a:xfrm>
            <a:off x="5984748" y="2834642"/>
            <a:ext cx="237744" cy="17373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0" name="Seta: Para a Direita 79">
            <a:extLst>
              <a:ext uri="{FF2B5EF4-FFF2-40B4-BE49-F238E27FC236}">
                <a16:creationId xmlns:a16="http://schemas.microsoft.com/office/drawing/2014/main" id="{3B5D33B0-E296-69FC-7D16-EC69C6F04664}"/>
              </a:ext>
            </a:extLst>
          </p:cNvPr>
          <p:cNvSpPr/>
          <p:nvPr/>
        </p:nvSpPr>
        <p:spPr>
          <a:xfrm>
            <a:off x="7539228" y="2834642"/>
            <a:ext cx="237744" cy="17373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2" name="Seta: Para a Direita 81">
            <a:extLst>
              <a:ext uri="{FF2B5EF4-FFF2-40B4-BE49-F238E27FC236}">
                <a16:creationId xmlns:a16="http://schemas.microsoft.com/office/drawing/2014/main" id="{D1F1DBA0-BF3C-7192-4613-FE1C1064CFFB}"/>
              </a:ext>
            </a:extLst>
          </p:cNvPr>
          <p:cNvSpPr/>
          <p:nvPr/>
        </p:nvSpPr>
        <p:spPr>
          <a:xfrm>
            <a:off x="9093581" y="2871216"/>
            <a:ext cx="237744" cy="17373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4" name="Seta: Para a Direita 83">
            <a:extLst>
              <a:ext uri="{FF2B5EF4-FFF2-40B4-BE49-F238E27FC236}">
                <a16:creationId xmlns:a16="http://schemas.microsoft.com/office/drawing/2014/main" id="{72F7709B-D47E-AD30-E9A7-88858146329C}"/>
              </a:ext>
            </a:extLst>
          </p:cNvPr>
          <p:cNvSpPr/>
          <p:nvPr/>
        </p:nvSpPr>
        <p:spPr>
          <a:xfrm>
            <a:off x="10629773" y="2871216"/>
            <a:ext cx="237744" cy="17373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Quality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GoiEner dataset — real-world smart meter reliability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3840480" cy="8686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25,559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Raw smart meters in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063240"/>
            <a:ext cx="3840480" cy="8686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19,998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246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With merged imputed series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297680"/>
            <a:ext cx="384048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19,709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4805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Retained after ≤5% missing filter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697480"/>
            <a:ext cx="0" cy="365760"/>
          </a:xfrm>
          <a:prstGeom prst="line">
            <a:avLst/>
          </a:prstGeom>
          <a:ln w="254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3931920"/>
            <a:ext cx="0" cy="365760"/>
          </a:xfrm>
          <a:prstGeom prst="line">
            <a:avLst/>
          </a:prstGeom>
          <a:ln w="254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754880" y="1051560"/>
            <a:ext cx="7132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1430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COVID Period Segmentation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1572768"/>
            <a:ext cx="6766560" cy="0"/>
          </a:xfrm>
          <a:prstGeom prst="line">
            <a:avLst/>
          </a:prstGeom>
          <a:ln w="127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37760" y="1783080"/>
            <a:ext cx="6583680" cy="11887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18745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Pre-COVID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Before March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11,037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154680"/>
            <a:ext cx="6583680" cy="11887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In-COVID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Mar 2020 – May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14,484 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4526280"/>
            <a:ext cx="658368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4617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Post-COVID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After May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16,442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60350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</a:rPr>
              <a:t>* 10,015 users present in all three periods — used for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CNAE Sector Analysis — Dataset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Clasificación Nacional de Actividades Económicas  ·  19,709 users retained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758952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15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Sector (CNAE)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1155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1155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11556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Share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" y="1508760"/>
            <a:ext cx="7315200" cy="0"/>
          </a:xfrm>
          <a:prstGeom prst="line">
            <a:avLst/>
          </a:prstGeom>
          <a:ln w="127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0040" y="1600200"/>
            <a:ext cx="7178040" cy="438912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6642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64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Household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642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16,311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80.7%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691640"/>
            <a:ext cx="521208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075688"/>
            <a:ext cx="717804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1396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1396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Public administration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139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396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167128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551176"/>
            <a:ext cx="7178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6151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6151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Warehousing and logistics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15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61518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2642616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026664"/>
            <a:ext cx="717804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0906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090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Retail trade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0906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346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0906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3118104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502152"/>
            <a:ext cx="7178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5661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566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Education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566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56616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3593592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3977639"/>
            <a:ext cx="717804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40416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40416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Food and beverage 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04164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03720" y="4069079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4453128"/>
            <a:ext cx="7178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45171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171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Associations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4517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171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51713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4544568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20040" y="4928616"/>
            <a:ext cx="717804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49926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49926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Sports and recreation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0" y="4992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99262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5020056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20040" y="5404104"/>
            <a:ext cx="7178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54681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54681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Construction, healthcare, IT…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0" y="54681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4681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03720" y="5495544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20040" y="5879592"/>
            <a:ext cx="717804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5943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Others (32 sectors)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5943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453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59436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2.3%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5971031"/>
            <a:ext cx="4572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001000" y="1051560"/>
            <a:ext cx="3977639" cy="5440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183879" y="114300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Analysis Focus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183879" y="1618488"/>
            <a:ext cx="3611881" cy="0"/>
          </a:xfrm>
          <a:prstGeom prst="line">
            <a:avLst/>
          </a:prstGeom>
          <a:ln w="127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138160" y="16002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7F17"/>
                </a:solidFill>
              </a:rPr>
              <a:t>80.7%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38160" y="1837944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6E4F7"/>
                </a:solidFill>
              </a:rPr>
              <a:t>of users are household</a:t>
            </a:r>
          </a:p>
          <a:p>
            <a:pPr algn="l"/>
            <a:r>
              <a:rPr sz="1100" b="0" i="0" dirty="0">
                <a:solidFill>
                  <a:srgbClr val="D6E4F7"/>
                </a:solidFill>
              </a:rPr>
              <a:t>production (16,311 users)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23408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F17"/>
                </a:solidFill>
              </a:rPr>
              <a:t>90.8%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38160" y="2656332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6E4F7"/>
                </a:solidFill>
              </a:rPr>
              <a:t>use a 2-period tariff (p1–p2)</a:t>
            </a:r>
            <a:r>
              <a:rPr lang="en-US" sz="1100" b="0" i="0" dirty="0">
                <a:solidFill>
                  <a:srgbClr val="D6E4F7"/>
                </a:solidFill>
              </a:rPr>
              <a:t> residential standard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32232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7F17"/>
                </a:solidFill>
              </a:rPr>
              <a:t>All results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0" y="3570732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6E4F7"/>
                </a:solidFill>
              </a:rPr>
              <a:t>in Ch. 4 are from municipal</a:t>
            </a:r>
          </a:p>
          <a:p>
            <a:pPr algn="l"/>
            <a:r>
              <a:rPr sz="1100" b="0" i="0" dirty="0">
                <a:solidFill>
                  <a:srgbClr val="D6E4F7"/>
                </a:solidFill>
              </a:rPr>
              <a:t>aggregates dominated by</a:t>
            </a:r>
          </a:p>
          <a:p>
            <a:pPr algn="l"/>
            <a:r>
              <a:rPr sz="1100" b="0" i="0" dirty="0">
                <a:solidFill>
                  <a:srgbClr val="D6E4F7"/>
                </a:solidFill>
              </a:rPr>
              <a:t>household consumers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38160" y="4183380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7F17"/>
                </a:solidFill>
              </a:rPr>
              <a:t>Public admin</a:t>
            </a:r>
            <a:r>
              <a:rPr lang="pt-PT" sz="1600" b="1" i="0" dirty="0" err="1">
                <a:solidFill>
                  <a:srgbClr val="F57F17"/>
                </a:solidFill>
              </a:rPr>
              <a:t>istration</a:t>
            </a:r>
            <a:endParaRPr sz="1600" b="1" i="0" dirty="0">
              <a:solidFill>
                <a:srgbClr val="F57F17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138160" y="4503421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6E4F7"/>
                </a:solidFill>
              </a:rPr>
              <a:t>reviewed separately:</a:t>
            </a:r>
          </a:p>
          <a:p>
            <a:pPr algn="l"/>
            <a:r>
              <a:rPr sz="1100" b="0" i="0" dirty="0">
                <a:solidFill>
                  <a:srgbClr val="D6E4F7"/>
                </a:solidFill>
              </a:rPr>
              <a:t>near-perfect seasonality</a:t>
            </a:r>
          </a:p>
          <a:p>
            <a:pPr algn="l"/>
            <a:r>
              <a:rPr sz="1100" b="0" i="0" dirty="0">
                <a:solidFill>
                  <a:srgbClr val="D6E4F7"/>
                </a:solidFill>
              </a:rPr>
              <a:t>(Fs ≈ 0.99) vs residential</a:t>
            </a:r>
          </a:p>
          <a:p>
            <a:pPr algn="l"/>
            <a:r>
              <a:rPr sz="1100" b="0" i="0" dirty="0">
                <a:solidFill>
                  <a:srgbClr val="D6E4F7"/>
                </a:solidFill>
              </a:rPr>
              <a:t>(Fs ≈ 0.46–0.49)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01000" y="5989320"/>
            <a:ext cx="3977639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Findings are specific to residential consumption behaviour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STL Decomposition — Seasonality  (RQ2)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xₜ = Tₜ + Sₜ + Rₜ   ·   Fs = max(0, 1 − Var(Rₜ) / Var(Sₜ + Rₜ))   ·   Daily period = 24 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51560"/>
            <a:ext cx="11750040" cy="4572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D6E4F7"/>
                </a:solidFill>
              </a:rPr>
              <a:t>Fs close to 1 → seasonal component explains most variation  ·  Fs close to 0 → little periodic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627632"/>
            <a:ext cx="5623560" cy="47548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Household Production  (n = 16,311)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130552"/>
            <a:ext cx="56235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1" y="2212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Mean 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2212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Median 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212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12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Skew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" y="2542032"/>
            <a:ext cx="5440680" cy="0"/>
          </a:xfrm>
          <a:prstGeom prst="line">
            <a:avLst/>
          </a:prstGeom>
          <a:ln w="1016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2606040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651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Pre-COVID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1" y="2651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0.476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4" y="2651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0.457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651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0.113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2651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+1.42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36392"/>
            <a:ext cx="5486400" cy="47548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In-COVID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1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6D2"/>
                </a:solidFill>
              </a:rPr>
              <a:t>0.501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8024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6D2"/>
                </a:solidFill>
              </a:rPr>
              <a:t>0.489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6D2"/>
                </a:solidFill>
              </a:rPr>
              <a:t>0.112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6D2"/>
                </a:solidFill>
              </a:rPr>
              <a:t>+0.97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666744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71246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Post-COVID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1" y="371246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8024" y="371246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6" y="371246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0.112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371246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+1.35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31596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In-period median highest (0.489) — lockdown homogenised daily routines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72744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Post-period returns close to pre (0.448) — gradual recovery to diversity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1389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Positive skew: most households moderately regular; minority highly regular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55040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57575"/>
                </a:solidFill>
              </a:rPr>
              <a:t>▸  Weekly Fs not separately decomposed — captured via calendar features in forecasting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1627632"/>
            <a:ext cx="5897880" cy="475488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Public Administration  (n = 612)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130552"/>
            <a:ext cx="5897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Period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Mean 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Median 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Skew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72200" y="2542032"/>
            <a:ext cx="5623560" cy="0"/>
          </a:xfrm>
          <a:prstGeom prst="line">
            <a:avLst/>
          </a:prstGeom>
          <a:ln w="1016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126480" y="2606040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7220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Pre-COVID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0.863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0.985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0.225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−1.58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136392"/>
            <a:ext cx="5760720" cy="475488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72200" y="3182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In-COVID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3182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0.831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3182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0.988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182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0.248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3182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−1.25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3666744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72200" y="371246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Post-COVID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71246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0.865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371246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0.990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371246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0.228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44200" y="371246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−1.56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43159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Near-perfect regularity: median Fs ≈ 0.985–0.990 across all periods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4727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Negative skew: most buildings highly regular; minority very irregular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51389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In-period mean drops to 0.831 — partial closures disrupted schedules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55504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695C"/>
                </a:solidFill>
              </a:rPr>
              <a:t>▸  COVID effect opposite to households: lockdown disrupted, not regularised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61888" y="1627632"/>
            <a:ext cx="0" cy="4956048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STL Decomposition — Trend &amp; Residuals  (RQ2)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Per-user slopes and irregular components across 19,709 users  ·  Three COVID periods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51560"/>
            <a:ext cx="56235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Trend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56235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69164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Mean slope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169164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Skew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169164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↑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169164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91640"/>
            <a:ext cx="841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↓ Dec.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" y="2029968"/>
            <a:ext cx="5440680" cy="0"/>
          </a:xfrm>
          <a:prstGeom prst="line">
            <a:avLst/>
          </a:prstGeom>
          <a:ln w="1016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2121408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185415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Pre-COVID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185415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2264" y="2185415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−5.17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185415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36.4%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7" y="2185415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36.2%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185415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27.5%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51760"/>
            <a:ext cx="548640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71576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In-COVID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271576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≈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2264" y="271576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+13.47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376" y="271576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271576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19.5%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71576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35.5%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82111"/>
            <a:ext cx="5486400" cy="47548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324611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Post-COVID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324611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≈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2264" y="324611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+3.62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8376" y="324611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55.3%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4487" y="324611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17.8%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246119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26.9%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749039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Key insight: mean slopes are near-zero in all periods but behaviour</a:t>
            </a:r>
          </a:p>
          <a:p>
            <a:pPr algn="l"/>
            <a:r>
              <a:rPr sz="1100" b="0" i="0">
                <a:solidFill>
                  <a:srgbClr val="212121"/>
                </a:solidFill>
              </a:rPr>
              <a:t>becomes increasingly heterogeneous over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4348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Pre: balanced — roughly equal Inc. / Stable / Dec.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910327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In: skew = +13.47 — extreme outliers during lockdown;  stable users halved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38581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Post: 55.3% now growing — long-term shift toward higher consumption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586130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Trend and seasonality vary independently (no correlation between Fs and slope)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1051560"/>
            <a:ext cx="5897880" cy="5029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Residual Component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600200"/>
            <a:ext cx="58978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Period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Extreme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Med. Kurt.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Mean CV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42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Var.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72200" y="2029968"/>
            <a:ext cx="5623560" cy="0"/>
          </a:xfrm>
          <a:prstGeom prst="line">
            <a:avLst/>
          </a:prstGeom>
          <a:ln w="1016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126480" y="2121408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72200" y="21854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Pre-COVID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21854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2.22%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21854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15.0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21854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1.037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21854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0.0437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2651760"/>
            <a:ext cx="576072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72200" y="27157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In-COVID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27157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2.18%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8200" y="27157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16.2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27157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1.073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27157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0.0443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3182111"/>
            <a:ext cx="576072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72200" y="32461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Post-COVID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32461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2.18%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32461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15–16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32461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1.088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44200" y="32461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0.0463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3749039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Extreme rate (~2.2%) is remarkably stable across all COVID periods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4224527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Heavy tails: kurtosis 15–16 (Q3 &gt; 25) — far from Gaussian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470001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CV rising (1.037 → 1.088): residual variability growing over time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517550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Variance slightly higher post-COVID: more dispersed irregular behaviour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565099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2.2% used as contamination prior to calibrate anomaly detectors in Ch. 4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61888" y="1051560"/>
            <a:ext cx="0" cy="553212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Consumption Archetypes — User Clustering  (RQ3)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K-Means  k=3  on 10,015 users  ·  4 features: Fs, log-kurtosis, extreme ratio, trend slope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51560"/>
            <a:ext cx="3749039" cy="10058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Type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</a:rPr>
              <a:t>10.7%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of 10,015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148840"/>
            <a:ext cx="3749039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Avg Fs: 0.776 (high)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Strong upward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Institutional / commercial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Regular operating schedules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051560"/>
            <a:ext cx="3749039" cy="100584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097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Type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</a:rPr>
              <a:t>79.7%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of 10,015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48840"/>
            <a:ext cx="3749039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22860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Avg Fs: 0.455 (moderate)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200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Balanced trend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Mainstream residential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Typical kurtosis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051560"/>
            <a:ext cx="3749039" cy="10058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097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Type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59" y="1143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</a:rPr>
              <a:t>9.6%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59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of 10,015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148840"/>
            <a:ext cx="3749039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22860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Avg Fs: 0.213 (low)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00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Median kurtosis: 123 (!)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Sporadic / intermittent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Vacation homes or storage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" y="6080760"/>
            <a:ext cx="11750040" cy="50292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12121"/>
                </a:solidFill>
              </a:rPr>
              <a:t>Silhouette scores: k=2 → 0.459  |  k=3 → 0.452  |  k=3 chosen: separates sporadic users (Type C) from mainstream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Engineering — 19 Engineered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Two groups: temporal calendar context  +  consumption momentum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51560"/>
            <a:ext cx="5669280" cy="59436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 Calendar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91640"/>
            <a:ext cx="5669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Day-of-week  →  sin / cos encoding (circular)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14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Month        →  sin / cos encoding (circular)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Week-of-year →  sin / cos encoding (circular)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86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Is weekend flag (binary)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572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Is public holiday flag (binary)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257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Is bridge day flag (binary)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8064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</a:rPr>
              <a:t>Why circular encoding? Day 0 (Mon) and Day 6 (Sun)</a:t>
            </a:r>
          </a:p>
          <a:p>
            <a:pPr algn="l"/>
            <a:r>
              <a:rPr sz="1000" b="0" i="1">
                <a:solidFill>
                  <a:srgbClr val="757575"/>
                </a:solidFill>
              </a:rPr>
              <a:t>are adjacent — integer encoding implies they are far apart.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051560"/>
            <a:ext cx="566928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 History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669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Lag 1 day   (yesterday's consumption)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5000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Lag 7 days  (same weekday last week)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71215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Lag 14 days  (two weeks ago)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9242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Lag 30 days  (approximately one month ago)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1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Rolling mean 7d  ·  Rolling mean 30d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Rolling std 7d  ·  Rolling ratio 7d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5604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Week-over-week change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47725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▸  Day-over-day change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8064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</a:rPr>
              <a:t>Ablation result: shallow models gain 7–14 pp MAPE from history features;</a:t>
            </a:r>
          </a:p>
          <a:p>
            <a:pPr algn="l"/>
            <a:r>
              <a:rPr sz="1000" b="0" i="1">
                <a:solidFill>
                  <a:srgbClr val="757575"/>
                </a:solidFill>
              </a:rPr>
              <a:t>N-BEATS v2 is feature-agnostic (Δ ≤ 0.5 pp).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44768" y="1051560"/>
            <a:ext cx="0" cy="553212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Forecasting Models — 11 Models across 5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Prediction-based anomaly detection: forecast residual = anomaly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97280"/>
            <a:ext cx="2103120" cy="100584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179356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Naive  ·  Seasonal Naive (365d)  ·  Rolling Mean (7d)</a:t>
            </a:r>
          </a:p>
          <a:p>
            <a:pPr algn="l"/>
            <a:r>
              <a:rPr sz="1100" b="1" i="0" dirty="0"/>
              <a:t>Ridge Regression  ·  Random Forest (300 trees)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73352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chemeClr val="bg1"/>
                </a:solidFill>
              </a:rPr>
              <a:t>Performance floor — any usable model must beat a year-ago copy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" y="2121408"/>
            <a:ext cx="1175004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" y="2212848"/>
            <a:ext cx="2103120" cy="100584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Statistical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86000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SARIMA (1,1,1)×(1,1,1)₇</a:t>
            </a:r>
          </a:p>
          <a:p>
            <a:pPr algn="l"/>
            <a:r>
              <a:rPr sz="1100" b="1" i="0" dirty="0"/>
              <a:t>SARIMAX with calendar exogenous regressors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88920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chemeClr val="bg1"/>
                </a:solidFill>
              </a:rPr>
              <a:t>Classical seasonal ARIMA baseline; SARIMAX tests benefit of structured 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" y="3236976"/>
            <a:ext cx="1175004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600" y="3328415"/>
            <a:ext cx="2103120" cy="10058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LSTM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01568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Dual-stream: sequential LSTM (hidden 48, 2 layers, dropout 0.3)</a:t>
            </a:r>
          </a:p>
          <a:p>
            <a:pPr algn="l"/>
            <a:r>
              <a:rPr sz="1100" b="1" i="0" dirty="0"/>
              <a:t>+ static encoder for calendar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904487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chemeClr val="bg1"/>
                </a:solidFill>
              </a:rPr>
              <a:t>Dominant sequence architecture in reviewed literature (Zhang 2021, Mao 2024)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" y="4352544"/>
            <a:ext cx="1175004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8600" y="4443984"/>
            <a:ext cx="2103120" cy="10058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N-BEATS v2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517136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Adapted from </a:t>
            </a:r>
            <a:r>
              <a:rPr sz="1100" b="1" i="0" dirty="0" err="1"/>
              <a:t>Oreshkin</a:t>
            </a:r>
            <a:r>
              <a:rPr sz="1100" b="1" i="0" dirty="0"/>
              <a:t> et al. 2020: 3 residual blocks (hidden 64)</a:t>
            </a:r>
          </a:p>
          <a:p>
            <a:pPr algn="l"/>
            <a:r>
              <a:rPr sz="1100" b="1" i="0" dirty="0"/>
              <a:t>Conditioned on full 19-feature matrix as exogenous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020056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chemeClr val="bg1"/>
                </a:solidFill>
              </a:rPr>
              <a:t>No structural assumptions about series; feature-agnostic; best performer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" y="5468112"/>
            <a:ext cx="1175004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8600" y="5559552"/>
            <a:ext cx="2103120" cy="10058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Hybrid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632704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Seasonal Naive 365d forecast as structural baseline</a:t>
            </a:r>
          </a:p>
          <a:p>
            <a:pPr algn="l"/>
            <a:r>
              <a:rPr sz="1100" b="1" i="0" dirty="0"/>
              <a:t>+ residual LSTM corrector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6135624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chemeClr val="bg1"/>
                </a:solidFill>
              </a:rPr>
              <a:t>Encodes annual seasonality as domain knowledge rather than learned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8600" y="6583680"/>
            <a:ext cx="1175004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80" y="1024128"/>
            <a:ext cx="4434840" cy="5422392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1143000"/>
            <a:ext cx="39776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57F17"/>
                </a:solidFill>
              </a:rPr>
              <a:t>Why not Transformers?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600200"/>
            <a:ext cx="3977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12121"/>
                </a:solidFill>
              </a:rPr>
              <a:t>Transformer-based models (reviewed in Ch.2) require</a:t>
            </a:r>
          </a:p>
          <a:p>
            <a:pPr algn="l"/>
            <a:r>
              <a:rPr sz="1100" b="0" i="0" dirty="0">
                <a:solidFill>
                  <a:srgbClr val="212121"/>
                </a:solidFill>
              </a:rPr>
              <a:t>substantially larger training sets. Each municipality</a:t>
            </a:r>
          </a:p>
          <a:p>
            <a:pPr algn="l"/>
            <a:r>
              <a:rPr sz="1100" b="0" i="0" dirty="0">
                <a:solidFill>
                  <a:srgbClr val="212121"/>
                </a:solidFill>
              </a:rPr>
              <a:t>has ~1,300 training days — too small for attention</a:t>
            </a:r>
          </a:p>
          <a:p>
            <a:pPr algn="l"/>
            <a:r>
              <a:rPr sz="1100" b="0" i="0" dirty="0">
                <a:solidFill>
                  <a:srgbClr val="212121"/>
                </a:solidFill>
              </a:rPr>
              <a:t>mechanisms to provide reliable gains.</a:t>
            </a:r>
          </a:p>
          <a:p>
            <a:pPr algn="l"/>
            <a:endParaRPr sz="1100" b="0" i="0" dirty="0">
              <a:solidFill>
                <a:srgbClr val="212121"/>
              </a:solidFill>
            </a:endParaRPr>
          </a:p>
          <a:p>
            <a:pPr algn="l"/>
            <a:r>
              <a:rPr sz="1100" b="0" i="0" dirty="0">
                <a:solidFill>
                  <a:srgbClr val="212121"/>
                </a:solidFill>
              </a:rPr>
              <a:t>N-BEATS achieves strong performance without</a:t>
            </a:r>
          </a:p>
          <a:p>
            <a:pPr algn="l"/>
            <a:r>
              <a:rPr sz="1100" b="0" i="0" dirty="0">
                <a:solidFill>
                  <a:srgbClr val="212121"/>
                </a:solidFill>
              </a:rPr>
              <a:t>attention overhead on datasets of this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Forecasting Results — Test Set MAPE (%)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Household production aggregates  ·  Best values per city highlighted  ·  Models with data leakage excluded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97280"/>
          <a:ext cx="786384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Vitoria-Gasteiz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Donostia/S.Seb.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Pamplona/Iruna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31.30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16.48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Seasonal Naive 365d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12.30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10.68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9.25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Rolling Mean 7d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33.31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17.83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21.51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Ridge ⚠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5.13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3.53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Random Forest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SARIMA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74.85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12.98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14.92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52.99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6.23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LSTM v2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9.67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6.08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6.82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65100"/>
                          </a:solidFill>
                        </a:rPr>
                        <a:t>N-BEATS v2 ★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65100"/>
                          </a:solidFill>
                        </a:rPr>
                        <a:t>5.31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65100"/>
                          </a:solidFill>
                        </a:rPr>
                        <a:t>3.38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65100"/>
                          </a:solidFill>
                        </a:rPr>
                        <a:t>4.42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4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Hybrid v2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24.30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37.77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22.02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21040" y="1097280"/>
            <a:ext cx="36576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Key Takeaways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03920" y="1618488"/>
            <a:ext cx="3291840" cy="0"/>
          </a:xfrm>
          <a:prstGeom prst="line">
            <a:avLst/>
          </a:prstGeom>
          <a:ln w="127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58200" y="1783080"/>
            <a:ext cx="3291840" cy="82296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12121"/>
                </a:solidFill>
              </a:rPr>
              <a:t>N-BEATS v2 most consistent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across all 3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0"/>
            <a:ext cx="3291840" cy="82296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12121"/>
                </a:solidFill>
              </a:rPr>
              <a:t>SARIMA unreliable: 74.85%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on Vitoria-Gasteiz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703320"/>
            <a:ext cx="3291840" cy="82296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12121"/>
                </a:solidFill>
              </a:rPr>
              <a:t>SARIMAX city-dependent: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3.15% vs 52.99%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4663440"/>
            <a:ext cx="3291840" cy="82296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12121"/>
                </a:solidFill>
              </a:rPr>
              <a:t>Ridge / RF excluded: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require future cross-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sectional data (leakage)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5623560"/>
            <a:ext cx="3291840" cy="82296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12121"/>
                </a:solidFill>
              </a:rPr>
              <a:t>Hybrid v2 collapses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on 2 of 3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4465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62828"/>
                </a:solidFill>
              </a:rPr>
              <a:t>⚠ data leakage — excluded from best-model selection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Improvements — Feature Engineering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With 19 features vs calendar-only (9 features) — MAPE delta per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97280"/>
          <a:ext cx="117500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 FE (cal only)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With FE (19)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MAPE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Naive / S.Naive / Roll.Mean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No change — no features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15.75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5.13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−10.63 pp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History features are the primary signal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16.20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−8.85 pp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Tree split quality improves with 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SARIMA → SARIMAX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74.85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52.99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−21.86 pp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Calendar regressors help, still unreliable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LSTM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9.67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62828"/>
                          </a:solidFill>
                        </a:rPr>
                        <a:t>+3.33 pp ▲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Redundant lags confuse the LSTM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N-BEATS v2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5.11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5.31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62828"/>
                          </a:solidFill>
                        </a:rPr>
                        <a:t>+0.20 pp ≈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Feature-agnostic: learns from raw lookback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Hybrid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16.39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62828"/>
                          </a:solidFill>
                        </a:rPr>
                        <a:t>+10.20 pp ▲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Redundancy hurts residual corrector badly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46520"/>
            <a:ext cx="1175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Vitoria-Gasteiz shown; patterns consistent across all three municipalities.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Bootstrap Validation — 100 Seeds, Trimmed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Top/bottom 5 runs discarded  ·  Confirms single-run results are representative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97280"/>
          <a:ext cx="11750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5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Vitoria Mean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Donostia Mean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Pamplona Mean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Cross-city avg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121"/>
                          </a:solidFill>
                        </a:rPr>
                        <a:t>N-BEATS v2 ★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5.20%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3.71%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0.11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4.94%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4.62%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121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LSTM v2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8.36%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0.26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5.28%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0.17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5.91%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0.17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6.52%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6.43%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4.71%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4.96%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5.42%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3.28%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4.65%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4.45%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28600" y="3977639"/>
            <a:ext cx="2834640" cy="2468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4069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N-BEATS v2 most stable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63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σ ≤ 0.20 pp across all cities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Single-run result is representative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3977639"/>
            <a:ext cx="2834640" cy="246888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4069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LSTM v2 more consistent</a:t>
            </a:r>
          </a:p>
          <a:p>
            <a:pPr algn="l"/>
            <a:r>
              <a:rPr sz="1300" b="1" i="0">
                <a:solidFill>
                  <a:srgbClr val="FFFFFF"/>
                </a:solidFill>
              </a:rPr>
              <a:t>than single run suggested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4663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Trimmed mean 0.8–1.3 pp better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than Table 4 single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977639"/>
            <a:ext cx="2834640" cy="24688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4069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Ridge is deterministic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4663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Closed-form solution → σ = 0.00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Slightly higher due to split 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4" y="3977639"/>
            <a:ext cx="2834640" cy="246888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36024" y="4069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N-BEATS selected</a:t>
            </a:r>
          </a:p>
          <a:p>
            <a:pPr algn="l"/>
            <a:r>
              <a:rPr sz="1300" b="1" i="0">
                <a:solidFill>
                  <a:srgbClr val="FFFFFF"/>
                </a:solidFill>
              </a:rPr>
              <a:t>as base forecaster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4663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Best cross-city avg: 4.62%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Lowest variance among neural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Anomaly Detection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Prediction-based: N-BEATS v2 residuals → 5 detectors → majority vote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463040"/>
            <a:ext cx="1737360" cy="10058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N-BEATS v2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Forecast  ŷₜ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65960" y="1965960"/>
            <a:ext cx="274319" cy="0"/>
          </a:xfrm>
          <a:prstGeom prst="line">
            <a:avLst/>
          </a:prstGeom>
          <a:ln w="254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1463040"/>
            <a:ext cx="1737360" cy="100584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Residual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eₜ = yₜ − ŷₜ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1965960"/>
            <a:ext cx="274320" cy="0"/>
          </a:xfrm>
          <a:prstGeom prst="line">
            <a:avLst/>
          </a:prstGeom>
          <a:ln w="254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51960" y="1463040"/>
            <a:ext cx="1737360" cy="100584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Feature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Matrix (6D)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1965960"/>
            <a:ext cx="274320" cy="0"/>
          </a:xfrm>
          <a:prstGeom prst="line">
            <a:avLst/>
          </a:prstGeom>
          <a:ln w="254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463040"/>
            <a:ext cx="1737360" cy="10058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 Independent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Detectors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01000" y="1965960"/>
            <a:ext cx="274320" cy="0"/>
          </a:xfrm>
          <a:prstGeom prst="line">
            <a:avLst/>
          </a:prstGeom>
          <a:ln w="254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1463040"/>
            <a:ext cx="1737360" cy="10058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Ensemble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≥ 3/5 votes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12680" y="1965960"/>
            <a:ext cx="274320" cy="0"/>
          </a:xfrm>
          <a:prstGeom prst="line">
            <a:avLst/>
          </a:prstGeom>
          <a:ln w="254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87000" y="1463040"/>
            <a:ext cx="1737360" cy="10058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Anomaly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>Flags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606040"/>
            <a:ext cx="5394960" cy="685800"/>
          </a:xfrm>
          <a:prstGeom prst="roundRect">
            <a:avLst/>
          </a:prstGeom>
          <a:solidFill>
            <a:srgbClr val="D6E4F7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1A237E"/>
                </a:solidFill>
              </a:rPr>
              <a:t>Feature matrix: residual  ·  rolling z-score  ·  lag-1d  ·  lag-7d  ·  rolling mean 7d  ·  rolling std 7d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5 Detectors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840480"/>
            <a:ext cx="1691640" cy="45720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Rolling z-score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867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|z| &gt; 3 (adaptive 30d window)</a:t>
            </a:r>
          </a:p>
          <a:p>
            <a:pPr algn="l"/>
            <a:r>
              <a:rPr sz="900" b="0" i="0">
                <a:solidFill>
                  <a:srgbClr val="212121"/>
                </a:solidFill>
              </a:rPr>
              <a:t>Conservative — flags near 0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4370832"/>
            <a:ext cx="1691640" cy="4572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Isolation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3982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Per-city contamination rate</a:t>
            </a:r>
          </a:p>
          <a:p>
            <a:pPr algn="l"/>
            <a:r>
              <a:rPr sz="900" b="0" i="0">
                <a:solidFill>
                  <a:srgbClr val="212121"/>
                </a:solidFill>
              </a:rPr>
              <a:t>Flags ~2.4% of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4901184"/>
            <a:ext cx="16916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9286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Local outlier factor</a:t>
            </a:r>
          </a:p>
          <a:p>
            <a:pPr algn="l"/>
            <a:r>
              <a:rPr sz="900" b="0" i="0">
                <a:solidFill>
                  <a:srgbClr val="212121"/>
                </a:solidFill>
              </a:rPr>
              <a:t>Flags ~2.4% of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5431536"/>
            <a:ext cx="1691640" cy="457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One-Class SVM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458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Per-city contamination rate</a:t>
            </a:r>
          </a:p>
          <a:p>
            <a:pPr algn="l"/>
            <a:r>
              <a:rPr sz="900" b="0" i="0">
                <a:solidFill>
                  <a:srgbClr val="212121"/>
                </a:solidFill>
              </a:rPr>
              <a:t>Flags 8–11% of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5961888"/>
            <a:ext cx="16916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K-Means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989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Cluster on full feature matrix</a:t>
            </a:r>
          </a:p>
          <a:p>
            <a:pPr algn="l"/>
            <a:r>
              <a:rPr sz="900" b="0" i="0">
                <a:solidFill>
                  <a:srgbClr val="212121"/>
                </a:solidFill>
              </a:rPr>
              <a:t>Flags 24–27% of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606040"/>
            <a:ext cx="6080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697480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Ensemble Design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35040" y="3127248"/>
            <a:ext cx="5715000" cy="0"/>
          </a:xfrm>
          <a:prstGeom prst="line">
            <a:avLst/>
          </a:prstGeom>
          <a:ln w="127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35040" y="324612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≥ 3 of 5 detectors must agree to flag a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749039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Reduces false positives vs single-detector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25196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z-score acts as conservative anchor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75488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K-Means / One-Class SVM do heavy lifting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25780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≥ 2/5 → 5–8%  (too many)  |  ≥ 4/5 → 0–0.7%  (too strict)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76072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▸  ≥ 3/5 gives 0.7–1.4%  — operationally actionable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Anomaly Detection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Household production aggregates  ·  Per-detector flagging rates  ·  Test set Aug 2021 – Jun 2022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97280"/>
          <a:ext cx="786383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3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Vitoria (297d)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Donostia (294d)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Pamplona (276d)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Rolling z-score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Isolation Forest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LOF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One-Class SVM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K-Means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24.2%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26.4%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</a:rPr>
                        <a:t>Ensemble ≥ 3/5  ★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21040" y="10972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Interpretation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03920" y="1572768"/>
            <a:ext cx="3291840" cy="0"/>
          </a:xfrm>
          <a:prstGeom prst="line">
            <a:avLst/>
          </a:prstGeom>
          <a:ln w="127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58200" y="1783080"/>
            <a:ext cx="640080" cy="7315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801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K-Means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24–27% — too aggressive</a:t>
            </a:r>
          </a:p>
          <a:p>
            <a:pPr algn="l"/>
            <a:r>
              <a:rPr sz="1000" b="0" i="0">
                <a:solidFill>
                  <a:srgbClr val="757575"/>
                </a:solidFill>
              </a:rPr>
              <a:t>would overwhelm analysts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651760"/>
            <a:ext cx="640080" cy="7315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26700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One-Class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990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8–11% — still too high</a:t>
            </a:r>
          </a:p>
          <a:p>
            <a:pPr algn="l"/>
            <a:r>
              <a:rPr sz="1000" b="0" i="0">
                <a:solidFill>
                  <a:srgbClr val="757575"/>
                </a:solidFill>
              </a:rPr>
              <a:t>for operational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520439"/>
            <a:ext cx="640080" cy="73152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353872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z-score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8587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~0% — too conservative</a:t>
            </a:r>
          </a:p>
          <a:p>
            <a:pPr algn="l"/>
            <a:r>
              <a:rPr sz="1000" b="0" i="0">
                <a:solidFill>
                  <a:srgbClr val="757575"/>
                </a:solidFill>
              </a:rPr>
              <a:t>under adaptive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389120"/>
            <a:ext cx="640080" cy="7315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440740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IF &amp; LOF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727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~2.4% — consistent with</a:t>
            </a:r>
          </a:p>
          <a:p>
            <a:pPr algn="l"/>
            <a:r>
              <a:rPr sz="1000" b="0" i="0">
                <a:solidFill>
                  <a:srgbClr val="757575"/>
                </a:solidFill>
              </a:rPr>
              <a:t>2.2% empirical prior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5257800"/>
            <a:ext cx="6400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5276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5961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0.7–1.4% — operational</a:t>
            </a:r>
          </a:p>
          <a:p>
            <a:pPr algn="l"/>
            <a:r>
              <a:rPr sz="1000" b="0" i="0">
                <a:solidFill>
                  <a:srgbClr val="757575"/>
                </a:solidFill>
              </a:rPr>
              <a:t>human-reviewable rate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Identified Anomalous Days — December 2021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Ensemble-flagged days  ·  Positive residuals: actual &gt; forecast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97280"/>
          <a:ext cx="78638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Actual (avg kWh)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Forecast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Residual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Vitoria-Gasteiz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2021-12-09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0.4116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+0.0892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Vitoria-Gasteiz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2021-12-10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0.3844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0.3911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62828"/>
                          </a:solidFill>
                        </a:rPr>
                        <a:t>−0.0067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Vitoria-Gasteiz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2021-12-13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+0.0569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Donostia/San Sebastian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2021-12-09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0.5097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0.4279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+0.0818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Donostia/San Sebastian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2022-01-07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0.4342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+0.0647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Donostia/San Sebastian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2022-01-24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0.5186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0.4540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+0.0647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Pamplona/Iruna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2021-12-20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0.4949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+0.1005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12121"/>
                          </a:solidFill>
                        </a:rPr>
                        <a:t>Pamplona/Iruna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2021-12-25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0.3019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0.3808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62828"/>
                          </a:solidFill>
                        </a:rPr>
                        <a:t>−0.0789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21040" y="1097280"/>
            <a:ext cx="3657600" cy="3566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1188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Omicron Wave — Dec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Cluster concentrated in Dec 2021</a:t>
            </a:r>
          </a:p>
          <a:p>
            <a:pPr algn="l"/>
            <a:r>
              <a:rPr sz="1100" b="0" i="0">
                <a:solidFill>
                  <a:srgbClr val="D6E4F7"/>
                </a:solidFill>
              </a:rPr>
              <a:t>across all 3 cities simultaneously.</a:t>
            </a:r>
          </a:p>
          <a:p>
            <a:pPr algn="l"/>
            <a:endParaRPr sz="1100" b="0" i="0">
              <a:solidFill>
                <a:srgbClr val="D6E4F7"/>
              </a:solidFill>
            </a:endParaRPr>
          </a:p>
          <a:p>
            <a:pPr algn="l"/>
            <a:r>
              <a:rPr sz="1100" b="0" i="0">
                <a:solidFill>
                  <a:srgbClr val="D6E4F7"/>
                </a:solidFill>
              </a:rPr>
              <a:t>Coincides with Omicron emergence</a:t>
            </a:r>
          </a:p>
          <a:p>
            <a:pPr algn="l"/>
            <a:r>
              <a:rPr sz="1100" b="0" i="0">
                <a:solidFill>
                  <a:srgbClr val="D6E4F7"/>
                </a:solidFill>
              </a:rPr>
              <a:t>in Spain + reintroduction of</a:t>
            </a:r>
          </a:p>
          <a:p>
            <a:pPr algn="l"/>
            <a:r>
              <a:rPr sz="1100" b="0" i="0">
                <a:solidFill>
                  <a:srgbClr val="D6E4F7"/>
                </a:solidFill>
              </a:rPr>
              <a:t>social restrictions and remote-</a:t>
            </a:r>
          </a:p>
          <a:p>
            <a:pPr algn="l"/>
            <a:r>
              <a:rPr sz="1100" b="0" i="0">
                <a:solidFill>
                  <a:srgbClr val="D6E4F7"/>
                </a:solidFill>
              </a:rPr>
              <a:t>working recommendations.</a:t>
            </a:r>
          </a:p>
          <a:p>
            <a:pPr algn="l"/>
            <a:endParaRPr sz="1100" b="0" i="0">
              <a:solidFill>
                <a:srgbClr val="D6E4F7"/>
              </a:solidFill>
            </a:endParaRPr>
          </a:p>
          <a:p>
            <a:pPr algn="l"/>
            <a:r>
              <a:rPr sz="1100" b="0" i="0">
                <a:solidFill>
                  <a:srgbClr val="D6E4F7"/>
                </a:solidFill>
              </a:rPr>
              <a:t>Positive residuals → demand surge</a:t>
            </a:r>
          </a:p>
          <a:p>
            <a:pPr algn="l"/>
            <a:r>
              <a:rPr sz="1100" b="0" i="0">
                <a:solidFill>
                  <a:srgbClr val="D6E4F7"/>
                </a:solidFill>
              </a:rPr>
              <a:t>consistent with people staying indoors.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754880"/>
            <a:ext cx="3657600" cy="14173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4828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F17"/>
                </a:solidFill>
              </a:rPr>
              <a:t>⚠  Weather Confound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212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December = peak heating season.</a:t>
            </a:r>
          </a:p>
          <a:p>
            <a:pPr algn="l"/>
            <a:r>
              <a:rPr sz="1000" b="0" i="0">
                <a:solidFill>
                  <a:srgbClr val="212121"/>
                </a:solidFill>
              </a:rPr>
              <a:t>Cold spell would produce the same</a:t>
            </a:r>
          </a:p>
          <a:p>
            <a:pPr algn="l"/>
            <a:r>
              <a:rPr sz="1000" b="0" i="0">
                <a:solidFill>
                  <a:srgbClr val="212121"/>
                </a:solidFill>
              </a:rPr>
              <a:t>pattern. Cannot separate without</a:t>
            </a:r>
          </a:p>
          <a:p>
            <a:pPr algn="l"/>
            <a:r>
              <a:rPr sz="1000" b="0" i="0">
                <a:solidFill>
                  <a:srgbClr val="212121"/>
                </a:solidFill>
              </a:rPr>
              <a:t>external temperature records.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97280"/>
            <a:ext cx="2834640" cy="56692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RQ1 — Data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691640"/>
            <a:ext cx="2834640" cy="2286000"/>
          </a:xfrm>
          <a:prstGeom prst="round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100" b="0">
                <a:solidFill>
                  <a:srgbClr val="D6E4F7"/>
                </a:solidFill>
              </a:rPr>
              <a:t>19,709 users retained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90.8% single-tariff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80.7% residential sector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18688" y="1097280"/>
            <a:ext cx="2834640" cy="56692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RQ2 —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8688" y="1691640"/>
            <a:ext cx="2834640" cy="2286000"/>
          </a:xfrm>
          <a:prstGeom prst="round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100" b="0">
                <a:solidFill>
                  <a:srgbClr val="D6E4F7"/>
                </a:solidFill>
              </a:rPr>
              <a:t>Residential Fs: 0.46–0.49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Post-period: 55.3% growing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Kurtosis 15–16, stable 2.2% 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097280"/>
            <a:ext cx="2834640" cy="56692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RQ3 — Archetypes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691640"/>
            <a:ext cx="2834640" cy="2286000"/>
          </a:xfrm>
          <a:prstGeom prst="round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100" b="0">
                <a:solidFill>
                  <a:srgbClr val="D6E4F7"/>
                </a:solidFill>
              </a:rPr>
              <a:t>Type A: 10.7% — institutional, growing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Type B: 79.7% — mainstream residential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Type C:  9.6% — sporadic, kurtosis 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98864" y="1097280"/>
            <a:ext cx="2834640" cy="56692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RQ4 — Anomaly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8864" y="1691640"/>
            <a:ext cx="2834640" cy="2286000"/>
          </a:xfrm>
          <a:prstGeom prst="roundRect">
            <a:avLst/>
          </a:prstGeom>
          <a:solidFill>
            <a:srgbClr val="2C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100" b="0">
                <a:solidFill>
                  <a:srgbClr val="D6E4F7"/>
                </a:solidFill>
              </a:rPr>
              <a:t>N-BEATS v2: MAPE 3.71–5.20% (bootstrap)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Ensemble ≥3/5: 0.7–1.4% anomaly rate</a:t>
            </a:r>
          </a:p>
          <a:p>
            <a:pPr algn="l"/>
            <a:r>
              <a:rPr sz="1100" b="0">
                <a:solidFill>
                  <a:srgbClr val="D6E4F7"/>
                </a:solidFill>
              </a:rPr>
              <a:t>December 2021 cluster: Omicron-consistent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" y="4160520"/>
            <a:ext cx="11704320" cy="0"/>
          </a:xfrm>
          <a:prstGeom prst="line">
            <a:avLst/>
          </a:prstGeom>
          <a:ln w="12700">
            <a:solidFill>
              <a:srgbClr val="3D5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" y="42519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Future Directions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7548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▸  Individual smart meter anomaly detection via user cluster-level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23036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▸  Add meteorological regressors (temperature) to disentangle weather from behavioural anomalies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705856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▸  Semi-supervised extension using confirmed anomaly examples for quantitative evaluation (recall / F1)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81344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▸  Extend to 2022–2024 energy-price crisis period to test framework robustness to structural breaks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</a:rPr>
              <a:t>Gonçalo Rosa  ·  goncalo662001@gmail.com  ·  ISCTE  ·  MSc Data Science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2531</Words>
  <Application>Microsoft Office PowerPoint</Application>
  <PresentationFormat>Personalizados</PresentationFormat>
  <Paragraphs>688</Paragraphs>
  <Slides>17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Gonçalo Rosa</cp:lastModifiedBy>
  <cp:revision>2</cp:revision>
  <dcterms:created xsi:type="dcterms:W3CDTF">2013-01-27T09:14:16Z</dcterms:created>
  <dcterms:modified xsi:type="dcterms:W3CDTF">2026-07-02T19:10:28Z</dcterms:modified>
  <cp:category/>
</cp:coreProperties>
</file>