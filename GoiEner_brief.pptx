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12188952" cy="45720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Pattern Detection</a:t>
            </a:r>
          </a:p>
          <a:p>
            <a:pPr algn="ctr"/>
            <a:r>
              <a:rPr sz="4000" b="1" i="0">
                <a:solidFill>
                  <a:srgbClr val="FFFFFF"/>
                </a:solidFill>
              </a:rPr>
              <a:t>in Energy Consumption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6E4F7"/>
                </a:solidFill>
              </a:rPr>
              <a:t>What we found in the GoiEner cooperative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Gonçalo Rosa  ·  ISCTE-IUL  ·  MSc Data Science  · 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57575"/>
                </a:solidFill>
              </a:rPr>
              <a:t>Supervisors: Prof. Ana Maria de Almeida  ·  Prof. Diana Mendes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65176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704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7F17"/>
                </a:solidFill>
              </a:rPr>
              <a:t>19,709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10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users retained</a:t>
            </a:r>
          </a:p>
          <a:p>
            <a:pPr algn="ctr"/>
            <a:r>
              <a:rPr sz="1200" b="0" i="0">
                <a:solidFill>
                  <a:srgbClr val="757575"/>
                </a:solidFill>
              </a:rPr>
              <a:t>(from 25,559 original)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97280"/>
            <a:ext cx="265176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1704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7F17"/>
                </a:solidFill>
              </a:rPr>
              <a:t>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10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hourly readings</a:t>
            </a:r>
          </a:p>
          <a:p>
            <a:pPr algn="ctr"/>
            <a:r>
              <a:rPr sz="1200" b="0" i="0">
                <a:solidFill>
                  <a:srgbClr val="757575"/>
                </a:solidFill>
              </a:rPr>
              <a:t>2014 – 2022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265176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1704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7F17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10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municipalities</a:t>
            </a:r>
          </a:p>
          <a:p>
            <a:pPr algn="ctr"/>
            <a:r>
              <a:rPr sz="1200" b="0" i="0">
                <a:solidFill>
                  <a:srgbClr val="757575"/>
                </a:solidFill>
              </a:rPr>
              <a:t>northern Spain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097280"/>
            <a:ext cx="265176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1704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7F17"/>
                </a:solidFill>
              </a:rPr>
              <a:t>80.7 %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810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residential users</a:t>
            </a:r>
          </a:p>
          <a:p>
            <a:pPr algn="ctr"/>
            <a:r>
              <a:rPr sz="1200" b="0" i="0">
                <a:solidFill>
                  <a:srgbClr val="757575"/>
                </a:solidFill>
              </a:rPr>
              <a:t>(Household production)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Three cities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Vitoria-Gasteiz  ·  Donostia/San Sebastián  ·  Pamplona/Iruña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All in the Basque Country / Navarra region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All GoiEner cooperative members (same tariff structure)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Selected: ≥ 100 active meters every day, &lt; 10 % gap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06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Quality filtering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25,559 raw smart meters in source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5,850 excluded: failed imputation or &gt; 5 % missing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19,709 retained for all analyses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Dominant tariff: p1 – p2 (residential, 90.8 %)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COVID periods: pre / in / post — used throughout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the Data Shows — Seasonal &amp; Trend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005840"/>
            <a:ext cx="3749039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Household seasonality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54480"/>
            <a:ext cx="3749039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Moderate, predictable daily cycle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Seasonal strength Fs ≈ 0.46 – 0.49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Peaked during COVID lockdowns (0.489)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— routines became more regular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Returned near pre-COVID after restrictions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05840"/>
            <a:ext cx="3749039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Public buildings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554480"/>
            <a:ext cx="3749039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69164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Near-perfect daily regularity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Seasonal strength Fs ≈ 0.985 – 0.990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Fixed office hours dominate signal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Lockdown disrupted (mean dropped to 0.831)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Opposite COVID effect to households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005840"/>
            <a:ext cx="3749039" cy="5029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Trend &amp; Residuals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554480"/>
            <a:ext cx="3749039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4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Mean trend slope ≈ 0 (stable in aggregate)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But: 55 % of users show upward trend post-COVID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(was 36 % pre-COVID)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Residuals consistently heavy-tailed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≈ 2.2 % extreme events — stable across periods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User Archetypes — K-Means Clustering (k =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875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10,015 users present in all three COVID periods  ·  4 features: seasonal strength, kurtosis, extreme rate, trend slope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417320"/>
            <a:ext cx="3749039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3749039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Type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057400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65100"/>
                </a:solidFill>
              </a:rPr>
              <a:t>10.7 %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6517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of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71800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High seasonal regularity  (Fs̄ = 0.78)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Strong upward trend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Institutional / commercial premises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Fixed daily schedules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17320"/>
            <a:ext cx="3749039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17320"/>
            <a:ext cx="3749039" cy="5943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Type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057400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976D2"/>
                </a:solidFill>
              </a:rPr>
              <a:t>79.7 %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6517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of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71800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Moderate seasonality  (Fs̄ = 0.46)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Mixed trend — no dominant direction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Mainstream residential users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The GoiEner typical profile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3749039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3749039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Type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057400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A1B9A"/>
                </a:solidFill>
              </a:rPr>
              <a:t>9.6 %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6517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of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2971800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Low seasonal strength  (Fs̄ = 0.21)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Extremely heavy-tailed residuals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Median kurtosis: 123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Vacation properties / storage units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Forecasting Daily Consumption — N-BEATS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MAPE on held-out test set (Aug 2021 – Jun 2022)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651760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417320"/>
            <a:ext cx="1325880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Vitoria-G.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417320"/>
            <a:ext cx="1325880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Donostia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17320"/>
            <a:ext cx="1325880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Pamplona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20240"/>
            <a:ext cx="2651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12121"/>
                </a:solidFill>
              </a:rPr>
              <a:t>Seasonal Naive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920240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</a:rPr>
              <a:t>12.3 %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920240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</a:rPr>
              <a:t>10.7 %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920240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</a:rPr>
              <a:t> 9.3 %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23160"/>
            <a:ext cx="265176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12121"/>
                </a:solidFill>
              </a:rPr>
              <a:t>SARIMA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423160"/>
            <a:ext cx="132588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</a:rPr>
              <a:t>74.9 %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2423160"/>
            <a:ext cx="132588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</a:rPr>
              <a:t>13.0 %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423160"/>
            <a:ext cx="132588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</a:rPr>
              <a:t>14.9 %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26080"/>
            <a:ext cx="2651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12121"/>
                </a:solidFill>
              </a:rPr>
              <a:t>SARIMAX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926080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</a:rPr>
              <a:t>53.0 %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2926080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</a:rPr>
              <a:t> 3.2 %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926080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</a:rPr>
              <a:t> 6.2 %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29000"/>
            <a:ext cx="265176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12121"/>
                </a:solidFill>
              </a:rPr>
              <a:t>LSTM v2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3429000"/>
            <a:ext cx="132588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</a:rPr>
              <a:t> 9.7 %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429000"/>
            <a:ext cx="132588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</a:rPr>
              <a:t> 6.1 %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429000"/>
            <a:ext cx="132588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</a:rPr>
              <a:t> 6.8 %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31920"/>
            <a:ext cx="265176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212121"/>
                </a:solidFill>
              </a:rPr>
              <a:t>N-BEATS v2  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931920"/>
            <a:ext cx="132588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65100"/>
                </a:solidFill>
              </a:rPr>
              <a:t> 5.3 %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3931920"/>
            <a:ext cx="132588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65100"/>
                </a:solidFill>
              </a:rPr>
              <a:t> 3.4 %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931920"/>
            <a:ext cx="132588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65100"/>
                </a:solidFill>
              </a:rPr>
              <a:t> 4.4 %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61772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</a:rPr>
              <a:t>11 models tested across 5 families (baselines, SARIMA, LSTM, N-BEATS, Hybrid)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1005840"/>
            <a:ext cx="42976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10972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150876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100 bootstrap seeds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Trimmed mean (drop top/bottom 5 %)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N-BEATS v2: MAPE 3.71 – 5.20 %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σ ≤ 0.20 pp — very stable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611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Why N-BEATS?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005072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Most consistent across all 3 cities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No structural assumptions about series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▸ Residuals fed into anomaly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Anomaly Detection — Ensemble of 5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4173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N-BEATS residuals (actual − forecast) as anomaly signal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5 detectors: rolling z-score, Isolation Forest, LOF,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  One-Class SVM, K-Means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Calibration prior: 2.2 % extreme-residual rate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  (observed across 19,709 users)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Flag a day only if ≥ 3 of 5 detectors agree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4663440"/>
            <a:ext cx="548640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736592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7F17"/>
                </a:solidFill>
              </a:rPr>
              <a:t>0.7 – 1.4 %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376672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ensemble anomaly rate</a:t>
            </a:r>
          </a:p>
          <a:p>
            <a:pPr algn="ctr"/>
            <a:r>
              <a:rPr sz="1200" b="0" i="0">
                <a:solidFill>
                  <a:srgbClr val="757575"/>
                </a:solidFill>
              </a:rPr>
              <a:t>per 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669280" cy="5486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What we found: December 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D6E4F7"/>
                </a:solidFill>
              </a:rPr>
              <a:t>▸ Anomaly cluster across all 3 cities simultaneously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D6E4F7"/>
                </a:solidFill>
              </a:rPr>
              <a:t>▸ Residuals almost all positive: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D6E4F7"/>
                </a:solidFill>
              </a:rPr>
              <a:t>▸   actual consumption above forecast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D6E4F7"/>
                </a:solidFill>
              </a:rPr>
              <a:t>▸ Timing matches Omicron wave emergence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D6E4F7"/>
                </a:solidFill>
              </a:rPr>
              <a:t>▸   and renewed social restrictions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D6E4F7"/>
                </a:solidFill>
              </a:rPr>
              <a:t>▸   (Basque Country / Navarra)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D6E4F7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D6E4F7"/>
                </a:solidFill>
              </a:rPr>
              <a:t>▸ Most likely cause: people staying indoors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D6E4F7"/>
                </a:solidFill>
              </a:rPr>
              <a:t>▸   → higher residential electricity demand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D6E4F7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D6E4F7"/>
                </a:solidFill>
              </a:rPr>
              <a:t>▸ Caveat: cold weather in December would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D6E4F7"/>
                </a:solidFill>
              </a:rPr>
              <a:t>▸   produce the same pattern — cannot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D6E4F7"/>
                </a:solidFill>
              </a:rPr>
              <a:t>▸   separate without temperature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73152" cy="8229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19,709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after quality filtering — dataset is clean and well-structured for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29967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29967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Clear seasonal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32303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daily cycle is the dominant structure; COVID lockdowns made it more regular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145536"/>
            <a:ext cx="73152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45536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consumption archetypes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4787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institutional (10.7 %), mainstream residential (79.7 %), intermittent (9.6 %)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261104"/>
            <a:ext cx="73152" cy="82296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61104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N-BEATS best forecaster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MAPE 3.71 – 5.20 % across cities, stable over 100 bootstrap seeds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376672"/>
            <a:ext cx="73152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7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0.7 – 1.4 % anomaly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7900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ensemble of 5 detectors — few enough to review; December 2021 cluster is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</a:rPr>
              <a:t>Gonçalo Rosa  ·  goncalo662001@gmail.com  ·  ISCTE  ·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